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" charset="1" panose="00000500000000000000"/>
      <p:regular r:id="rId13"/>
    </p:embeddedFont>
    <p:embeddedFont>
      <p:font typeface="Efour Digital Pro" charset="1" panose="02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5666" t="0" r="5666" b="0"/>
            <a:stretch>
              <a:fillRect/>
            </a:stretch>
          </p:blipFill>
          <p:spPr>
            <a:xfrm flipH="true" flipV="false">
              <a:off x="0" y="0"/>
              <a:ext cx="24384000" cy="13716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341531" y="1441260"/>
            <a:ext cx="2341455" cy="2341455"/>
          </a:xfrm>
          <a:custGeom>
            <a:avLst/>
            <a:gdLst/>
            <a:ahLst/>
            <a:cxnLst/>
            <a:rect r="r" b="b" t="t" l="l"/>
            <a:pathLst>
              <a:path h="2341455" w="2341455">
                <a:moveTo>
                  <a:pt x="0" y="0"/>
                </a:moveTo>
                <a:lnTo>
                  <a:pt x="2341455" y="0"/>
                </a:lnTo>
                <a:lnTo>
                  <a:pt x="2341455" y="2341454"/>
                </a:lnTo>
                <a:lnTo>
                  <a:pt x="0" y="2341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41531" y="7004089"/>
            <a:ext cx="5623235" cy="73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6"/>
              </a:lnSpc>
              <a:spcBef>
                <a:spcPct val="0"/>
              </a:spcBef>
            </a:pPr>
            <a:r>
              <a:rPr lang="en-US" sz="4119">
                <a:solidFill>
                  <a:srgbClr val="A4F0FD"/>
                </a:solidFill>
                <a:latin typeface="Poppins"/>
                <a:ea typeface="Poppins"/>
                <a:cs typeface="Poppins"/>
                <a:sym typeface="Poppins"/>
              </a:rPr>
              <a:t>JOHAN QUINAPALLO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1531" y="4900680"/>
            <a:ext cx="10618238" cy="148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15"/>
              </a:lnSpc>
            </a:pPr>
            <a:r>
              <a:rPr lang="en-US" sz="5286">
                <a:solidFill>
                  <a:srgbClr val="FFFFFF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Proyecto Integrador – Juego del Ahorcado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network tech digital element"/>
          <p:cNvSpPr/>
          <p:nvPr/>
        </p:nvSpPr>
        <p:spPr>
          <a:xfrm flipH="false" flipV="true" rot="0">
            <a:off x="9350763" y="4768256"/>
            <a:ext cx="8937237" cy="5518744"/>
          </a:xfrm>
          <a:custGeom>
            <a:avLst/>
            <a:gdLst/>
            <a:ahLst/>
            <a:cxnLst/>
            <a:rect r="r" b="b" t="t" l="l"/>
            <a:pathLst>
              <a:path h="5518744" w="8937237">
                <a:moveTo>
                  <a:pt x="0" y="5518744"/>
                </a:moveTo>
                <a:lnTo>
                  <a:pt x="8937237" y="5518744"/>
                </a:lnTo>
                <a:lnTo>
                  <a:pt x="8937237" y="0"/>
                </a:lnTo>
                <a:lnTo>
                  <a:pt x="0" y="0"/>
                </a:lnTo>
                <a:lnTo>
                  <a:pt x="0" y="5518744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283632"/>
            <a:ext cx="12790682" cy="193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30"/>
              </a:lnSpc>
            </a:pPr>
            <a:r>
              <a:rPr lang="en-US" sz="2953" spc="3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desarrolló un programa en Python que implementa el juego del Ahorcado, aplicando conceptos básicos de lógica de programación.</a:t>
            </a:r>
          </a:p>
          <a:p>
            <a:pPr algn="just" marL="0" indent="0" lvl="0">
              <a:lnSpc>
                <a:spcPts val="183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1408488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47"/>
              </a:lnSpc>
              <a:spcBef>
                <a:spcPct val="0"/>
              </a:spcBef>
            </a:pPr>
            <a:r>
              <a:rPr lang="en-US" sz="5289">
                <a:solidFill>
                  <a:srgbClr val="415AC6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Introducción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368206"/>
            <a:ext cx="1408488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47"/>
              </a:lnSpc>
              <a:spcBef>
                <a:spcPct val="0"/>
              </a:spcBef>
            </a:pPr>
            <a:r>
              <a:rPr lang="en-US" sz="5289">
                <a:solidFill>
                  <a:srgbClr val="415AC6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OBJETIVOS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447660"/>
            <a:ext cx="12790682" cy="193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30"/>
              </a:lnSpc>
            </a:pPr>
            <a:r>
              <a:rPr lang="en-US" sz="2953" spc="3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Desarrollar un software sencillo en Python aplicando estructuras condicionales, repetitivas y validación de datos.</a:t>
            </a:r>
          </a:p>
          <a:p>
            <a:pPr algn="just" marL="0" indent="0" lvl="0">
              <a:lnSpc>
                <a:spcPts val="18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network tech digital element"/>
          <p:cNvSpPr/>
          <p:nvPr/>
        </p:nvSpPr>
        <p:spPr>
          <a:xfrm flipH="false" flipV="false" rot="-10800000">
            <a:off x="38799" y="6748310"/>
            <a:ext cx="6891720" cy="4255637"/>
          </a:xfrm>
          <a:custGeom>
            <a:avLst/>
            <a:gdLst/>
            <a:ahLst/>
            <a:cxnLst/>
            <a:rect r="r" b="b" t="t" l="l"/>
            <a:pathLst>
              <a:path h="4255637" w="6891720">
                <a:moveTo>
                  <a:pt x="0" y="0"/>
                </a:moveTo>
                <a:lnTo>
                  <a:pt x="6891720" y="0"/>
                </a:lnTo>
                <a:lnTo>
                  <a:pt x="6891720" y="4255637"/>
                </a:lnTo>
                <a:lnTo>
                  <a:pt x="0" y="4255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01561" y="2656357"/>
            <a:ext cx="771999" cy="771999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01561" y="3939049"/>
            <a:ext cx="771999" cy="77199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701561" y="6511747"/>
            <a:ext cx="771999" cy="77199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701561" y="5225398"/>
            <a:ext cx="771999" cy="771999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86826" y="3949696"/>
            <a:ext cx="5062369" cy="3374912"/>
          </a:xfrm>
          <a:custGeom>
            <a:avLst/>
            <a:gdLst/>
            <a:ahLst/>
            <a:cxnLst/>
            <a:rect r="r" b="b" t="t" l="l"/>
            <a:pathLst>
              <a:path h="3374912" w="5062369">
                <a:moveTo>
                  <a:pt x="0" y="0"/>
                </a:moveTo>
                <a:lnTo>
                  <a:pt x="5062369" y="0"/>
                </a:lnTo>
                <a:lnTo>
                  <a:pt x="5062369" y="3374913"/>
                </a:lnTo>
                <a:lnTo>
                  <a:pt x="0" y="3374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057108" y="2594658"/>
            <a:ext cx="7765058" cy="52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498" indent="-247749" lvl="1">
              <a:lnSpc>
                <a:spcPts val="4590"/>
              </a:lnSpc>
              <a:buFont typeface="Arial"/>
              <a:buChar char="•"/>
            </a:pPr>
            <a:r>
              <a:rPr lang="en-US" sz="22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sistema selecciona una palabra aleatoria.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14955" y="2645926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>
                <a:solidFill>
                  <a:srgbClr val="FFFFFF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14955" y="3928618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FFFFFF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57108" y="3989688"/>
            <a:ext cx="7765058" cy="228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usuario debe adivinar la palabra ingresando letras.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</a:p>
          <a:p>
            <a:pPr algn="l" marL="0" indent="0" lvl="1">
              <a:lnSpc>
                <a:spcPts val="460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814955" y="6501316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FFFFFF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14955" y="5214967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FFFFFF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420396"/>
            <a:ext cx="4184105" cy="111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46"/>
              </a:lnSpc>
              <a:spcBef>
                <a:spcPct val="0"/>
              </a:spcBef>
            </a:pPr>
            <a:r>
              <a:rPr lang="en-US" sz="3705">
                <a:solidFill>
                  <a:srgbClr val="415AC6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descripción</a:t>
            </a:r>
            <a:r>
              <a:rPr lang="en-US" sz="3705">
                <a:solidFill>
                  <a:srgbClr val="415AC6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 </a:t>
            </a:r>
            <a:r>
              <a:rPr lang="en-US" sz="3705">
                <a:solidFill>
                  <a:srgbClr val="415AC6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DEL PROBLEMA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01561" y="8714421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3706" y="5157817"/>
            <a:ext cx="7765058" cy="52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22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usuario tiene un número limitado de intentos.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57108" y="6529086"/>
            <a:ext cx="7765058" cy="110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498" indent="-247749" lvl="1">
              <a:lnSpc>
                <a:spcPts val="4590"/>
              </a:lnSpc>
              <a:buFont typeface="Arial"/>
              <a:buChar char="•"/>
            </a:pPr>
            <a:r>
              <a:rPr lang="en-US" sz="22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juego finaliza cuando se adivina la palabra o se agotan los intentos.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network tech digital element"/>
          <p:cNvSpPr/>
          <p:nvPr/>
        </p:nvSpPr>
        <p:spPr>
          <a:xfrm flipH="false" flipV="true" rot="0">
            <a:off x="13519031" y="6498928"/>
            <a:ext cx="8937237" cy="5518744"/>
          </a:xfrm>
          <a:custGeom>
            <a:avLst/>
            <a:gdLst/>
            <a:ahLst/>
            <a:cxnLst/>
            <a:rect r="r" b="b" t="t" l="l"/>
            <a:pathLst>
              <a:path h="5518744" w="8937237">
                <a:moveTo>
                  <a:pt x="0" y="5518744"/>
                </a:moveTo>
                <a:lnTo>
                  <a:pt x="8937236" y="5518744"/>
                </a:lnTo>
                <a:lnTo>
                  <a:pt x="8937236" y="0"/>
                </a:lnTo>
                <a:lnTo>
                  <a:pt x="0" y="0"/>
                </a:lnTo>
                <a:lnTo>
                  <a:pt x="0" y="5518744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8830" y="2239161"/>
            <a:ext cx="10056609" cy="7667475"/>
          </a:xfrm>
          <a:custGeom>
            <a:avLst/>
            <a:gdLst/>
            <a:ahLst/>
            <a:cxnLst/>
            <a:rect r="r" b="b" t="t" l="l"/>
            <a:pathLst>
              <a:path h="7667475" w="10056609">
                <a:moveTo>
                  <a:pt x="0" y="0"/>
                </a:moveTo>
                <a:lnTo>
                  <a:pt x="10056609" y="0"/>
                </a:lnTo>
                <a:lnTo>
                  <a:pt x="10056609" y="7667475"/>
                </a:lnTo>
                <a:lnTo>
                  <a:pt x="0" y="7667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5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8830" y="579420"/>
            <a:ext cx="10545442" cy="89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97"/>
              </a:lnSpc>
              <a:spcBef>
                <a:spcPct val="0"/>
              </a:spcBef>
            </a:pPr>
            <a:r>
              <a:rPr lang="en-US" sz="5914">
                <a:solidFill>
                  <a:srgbClr val="415AC6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DIAGRAMA DE FLUJO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540758" y="2239161"/>
            <a:ext cx="608164" cy="608164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540758" y="3249637"/>
            <a:ext cx="608164" cy="608164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540758" y="5276351"/>
            <a:ext cx="608164" cy="608164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540758" y="4262994"/>
            <a:ext cx="608164" cy="608164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540758" y="6289708"/>
            <a:ext cx="608164" cy="608164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608628" y="2171198"/>
            <a:ext cx="6117140" cy="432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342" indent="-195171" lvl="1">
              <a:lnSpc>
                <a:spcPts val="3615"/>
              </a:lnSpc>
              <a:buFont typeface="Arial"/>
              <a:buChar char="•"/>
            </a:pPr>
            <a:r>
              <a:rPr lang="en-US" sz="180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jugador escribe una letra.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30088" y="2223715"/>
            <a:ext cx="429505" cy="53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2"/>
              </a:lnSpc>
            </a:pPr>
            <a:r>
              <a:rPr lang="en-US" sz="2836">
                <a:solidFill>
                  <a:srgbClr val="FFFFFF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30088" y="3234191"/>
            <a:ext cx="429505" cy="53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452"/>
              </a:lnSpc>
              <a:spcBef>
                <a:spcPct val="0"/>
              </a:spcBef>
            </a:pPr>
            <a:r>
              <a:rPr lang="en-US" sz="2836" strike="noStrike" u="none">
                <a:solidFill>
                  <a:srgbClr val="FFFFFF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08628" y="3287201"/>
            <a:ext cx="6117140" cy="42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1187" indent="-195594" lvl="1">
              <a:lnSpc>
                <a:spcPts val="3623"/>
              </a:lnSpc>
              <a:spcBef>
                <a:spcPct val="0"/>
              </a:spcBef>
              <a:buFont typeface="Arial"/>
              <a:buChar char="•"/>
            </a:pPr>
            <a:r>
              <a:rPr lang="en-US" sz="18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sistema evalúa si la letra está en la palabra.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30088" y="5260906"/>
            <a:ext cx="429505" cy="53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452"/>
              </a:lnSpc>
              <a:spcBef>
                <a:spcPct val="0"/>
              </a:spcBef>
            </a:pPr>
            <a:r>
              <a:rPr lang="en-US" sz="2836" strike="noStrike" u="none">
                <a:solidFill>
                  <a:srgbClr val="FFFFFF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30088" y="4247548"/>
            <a:ext cx="429505" cy="53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452"/>
              </a:lnSpc>
              <a:spcBef>
                <a:spcPct val="0"/>
              </a:spcBef>
            </a:pPr>
            <a:r>
              <a:rPr lang="en-US" sz="2836" strike="noStrike" u="none">
                <a:solidFill>
                  <a:srgbClr val="FFFFFF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30088" y="6274263"/>
            <a:ext cx="429505" cy="53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452"/>
              </a:lnSpc>
              <a:spcBef>
                <a:spcPct val="0"/>
              </a:spcBef>
            </a:pPr>
            <a:r>
              <a:rPr lang="en-US" sz="2836" strike="noStrike" u="none">
                <a:solidFill>
                  <a:srgbClr val="FFFFFF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08628" y="4190398"/>
            <a:ext cx="6117140" cy="432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342" indent="-195171" lvl="1">
              <a:lnSpc>
                <a:spcPts val="3615"/>
              </a:lnSpc>
              <a:buFont typeface="Arial"/>
              <a:buChar char="•"/>
            </a:pPr>
            <a:r>
              <a:rPr lang="en-US" sz="180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 está, las letras se revelan.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08628" y="5270654"/>
            <a:ext cx="6117140" cy="432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342" indent="-195171" lvl="1">
              <a:lnSpc>
                <a:spcPts val="3615"/>
              </a:lnSpc>
              <a:buFont typeface="Arial"/>
              <a:buChar char="•"/>
            </a:pPr>
            <a:r>
              <a:rPr lang="en-US" sz="180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 no está, el jugador pierde una vida.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08628" y="6324081"/>
            <a:ext cx="6117140" cy="88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342" indent="-195171" lvl="1">
              <a:lnSpc>
                <a:spcPts val="3615"/>
              </a:lnSpc>
              <a:buFont typeface="Arial"/>
              <a:buChar char="•"/>
            </a:pPr>
            <a:r>
              <a:rPr lang="en-US" sz="180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revisa si aún quedan vidas.</a:t>
            </a:r>
          </a:p>
          <a:p>
            <a:pPr algn="l">
              <a:lnSpc>
                <a:spcPts val="3615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1608628" y="7545827"/>
            <a:ext cx="6117140" cy="88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342" indent="-195171" lvl="1">
              <a:lnSpc>
                <a:spcPts val="3615"/>
              </a:lnSpc>
              <a:buFont typeface="Arial"/>
              <a:buChar char="•"/>
            </a:pPr>
            <a:r>
              <a:rPr lang="en-US" sz="180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revisa si todas las letras han sido descubiertas.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08628" y="8733768"/>
            <a:ext cx="6117140" cy="432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342" indent="-195171" lvl="1">
              <a:lnSpc>
                <a:spcPts val="3615"/>
              </a:lnSpc>
              <a:buFont typeface="Arial"/>
              <a:buChar char="•"/>
            </a:pPr>
            <a:r>
              <a:rPr lang="en-US" sz="180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ciclo continúa hasta que gane o pierda.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540758" y="7462196"/>
            <a:ext cx="608164" cy="608164"/>
            <a:chOff x="0" y="0"/>
            <a:chExt cx="6350000" cy="6350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630088" y="7446750"/>
            <a:ext cx="429505" cy="53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452"/>
              </a:lnSpc>
              <a:spcBef>
                <a:spcPct val="0"/>
              </a:spcBef>
            </a:pPr>
            <a:r>
              <a:rPr lang="en-US" sz="2836">
                <a:solidFill>
                  <a:srgbClr val="FFFFFF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6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540758" y="8726992"/>
            <a:ext cx="608164" cy="608164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630088" y="8711546"/>
            <a:ext cx="429505" cy="53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452"/>
              </a:lnSpc>
              <a:spcBef>
                <a:spcPct val="0"/>
              </a:spcBef>
            </a:pPr>
            <a:r>
              <a:rPr lang="en-US" sz="2836">
                <a:solidFill>
                  <a:srgbClr val="FFFFFF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7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network tech digital element"/>
          <p:cNvSpPr/>
          <p:nvPr/>
        </p:nvSpPr>
        <p:spPr>
          <a:xfrm flipH="false" flipV="true" rot="0">
            <a:off x="13519031" y="6498928"/>
            <a:ext cx="8937237" cy="5518744"/>
          </a:xfrm>
          <a:custGeom>
            <a:avLst/>
            <a:gdLst/>
            <a:ahLst/>
            <a:cxnLst/>
            <a:rect r="r" b="b" t="t" l="l"/>
            <a:pathLst>
              <a:path h="5518744" w="8937237">
                <a:moveTo>
                  <a:pt x="0" y="5518744"/>
                </a:moveTo>
                <a:lnTo>
                  <a:pt x="8937236" y="5518744"/>
                </a:lnTo>
                <a:lnTo>
                  <a:pt x="8937236" y="0"/>
                </a:lnTo>
                <a:lnTo>
                  <a:pt x="0" y="0"/>
                </a:lnTo>
                <a:lnTo>
                  <a:pt x="0" y="5518744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99010" y="2223512"/>
            <a:ext cx="6161136" cy="7143346"/>
          </a:xfrm>
          <a:custGeom>
            <a:avLst/>
            <a:gdLst/>
            <a:ahLst/>
            <a:cxnLst/>
            <a:rect r="r" b="b" t="t" l="l"/>
            <a:pathLst>
              <a:path h="7143346" w="6161136">
                <a:moveTo>
                  <a:pt x="0" y="0"/>
                </a:moveTo>
                <a:lnTo>
                  <a:pt x="6161137" y="0"/>
                </a:lnTo>
                <a:lnTo>
                  <a:pt x="6161137" y="7143347"/>
                </a:lnTo>
                <a:lnTo>
                  <a:pt x="0" y="71433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3186" y="772503"/>
            <a:ext cx="10545442" cy="89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97"/>
              </a:lnSpc>
              <a:spcBef>
                <a:spcPct val="0"/>
              </a:spcBef>
            </a:pPr>
            <a:r>
              <a:rPr lang="en-US" sz="5914">
                <a:solidFill>
                  <a:srgbClr val="415AC6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ARQUITECTURA EN CAPAS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06055" y="2643753"/>
            <a:ext cx="8484727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uestra letras reveladas, vidas restantes y mensajes de resultado.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06055" y="4028063"/>
            <a:ext cx="8484727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erifica si la letra está en la palabra.</a:t>
            </a:r>
          </a:p>
          <a:p>
            <a:pPr algn="l" marL="582932" indent="-291466" lvl="1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Actualiza vidas.</a:t>
            </a:r>
          </a:p>
          <a:p>
            <a:pPr algn="l" marL="582932" indent="-291466" lvl="1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Controla si el jugador gana o pierde.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06055" y="6336923"/>
            <a:ext cx="8484727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elección aleatoria de palabras.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06055" y="8008501"/>
            <a:ext cx="8484727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rada del te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clado.</a:t>
            </a:r>
          </a:p>
          <a:p>
            <a:pPr algn="l" marL="582932" indent="-291466" lvl="1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Librerías internas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157917"/>
            <a:ext cx="7101430" cy="2927837"/>
            <a:chOff x="0" y="0"/>
            <a:chExt cx="9468573" cy="390378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468573" cy="3903783"/>
              <a:chOff x="0" y="0"/>
              <a:chExt cx="1870335" cy="77111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870335" cy="771118"/>
              </a:xfrm>
              <a:custGeom>
                <a:avLst/>
                <a:gdLst/>
                <a:ahLst/>
                <a:cxnLst/>
                <a:rect r="r" b="b" t="t" l="l"/>
                <a:pathLst>
                  <a:path h="771118" w="1870335">
                    <a:moveTo>
                      <a:pt x="0" y="0"/>
                    </a:moveTo>
                    <a:lnTo>
                      <a:pt x="1870335" y="0"/>
                    </a:lnTo>
                    <a:lnTo>
                      <a:pt x="1870335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A4F0FD">
                  <a:alpha val="3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66675"/>
                <a:ext cx="1870335" cy="837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1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352529" y="0"/>
              <a:ext cx="88900" cy="3903783"/>
              <a:chOff x="0" y="0"/>
              <a:chExt cx="17560" cy="77111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560" cy="771118"/>
              </a:xfrm>
              <a:custGeom>
                <a:avLst/>
                <a:gdLst/>
                <a:ahLst/>
                <a:cxnLst/>
                <a:rect r="r" b="b" t="t" l="l"/>
                <a:pathLst>
                  <a:path h="771118" w="17560">
                    <a:moveTo>
                      <a:pt x="0" y="0"/>
                    </a:moveTo>
                    <a:lnTo>
                      <a:pt x="17560" y="0"/>
                    </a:lnTo>
                    <a:lnTo>
                      <a:pt x="17560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415AC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17560" cy="837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1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28700" y="6330463"/>
            <a:ext cx="7101430" cy="2927837"/>
            <a:chOff x="0" y="0"/>
            <a:chExt cx="9468573" cy="390378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468573" cy="3903783"/>
              <a:chOff x="0" y="0"/>
              <a:chExt cx="1870335" cy="77111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870335" cy="771118"/>
              </a:xfrm>
              <a:custGeom>
                <a:avLst/>
                <a:gdLst/>
                <a:ahLst/>
                <a:cxnLst/>
                <a:rect r="r" b="b" t="t" l="l"/>
                <a:pathLst>
                  <a:path h="771118" w="1870335">
                    <a:moveTo>
                      <a:pt x="0" y="0"/>
                    </a:moveTo>
                    <a:lnTo>
                      <a:pt x="1870335" y="0"/>
                    </a:lnTo>
                    <a:lnTo>
                      <a:pt x="1870335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A4F0FD">
                  <a:alpha val="33725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1870335" cy="837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1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9352529" y="0"/>
              <a:ext cx="88900" cy="3903783"/>
              <a:chOff x="0" y="0"/>
              <a:chExt cx="17560" cy="77111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560" cy="771118"/>
              </a:xfrm>
              <a:custGeom>
                <a:avLst/>
                <a:gdLst/>
                <a:ahLst/>
                <a:cxnLst/>
                <a:rect r="r" b="b" t="t" l="l"/>
                <a:pathLst>
                  <a:path h="771118" w="17560">
                    <a:moveTo>
                      <a:pt x="0" y="0"/>
                    </a:moveTo>
                    <a:lnTo>
                      <a:pt x="17560" y="0"/>
                    </a:lnTo>
                    <a:lnTo>
                      <a:pt x="17560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415AC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66675"/>
                <a:ext cx="17560" cy="837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1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8747735" y="3157917"/>
            <a:ext cx="7101430" cy="2927837"/>
            <a:chOff x="0" y="0"/>
            <a:chExt cx="9468573" cy="390378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468573" cy="3903783"/>
              <a:chOff x="0" y="0"/>
              <a:chExt cx="1870335" cy="77111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870335" cy="771118"/>
              </a:xfrm>
              <a:custGeom>
                <a:avLst/>
                <a:gdLst/>
                <a:ahLst/>
                <a:cxnLst/>
                <a:rect r="r" b="b" t="t" l="l"/>
                <a:pathLst>
                  <a:path h="771118" w="1870335">
                    <a:moveTo>
                      <a:pt x="0" y="0"/>
                    </a:moveTo>
                    <a:lnTo>
                      <a:pt x="1870335" y="0"/>
                    </a:lnTo>
                    <a:lnTo>
                      <a:pt x="1870335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A4F0FD">
                  <a:alpha val="33725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66675"/>
                <a:ext cx="1870335" cy="837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1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352529" y="0"/>
              <a:ext cx="88900" cy="3903783"/>
              <a:chOff x="0" y="0"/>
              <a:chExt cx="17560" cy="77111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7560" cy="771118"/>
              </a:xfrm>
              <a:custGeom>
                <a:avLst/>
                <a:gdLst/>
                <a:ahLst/>
                <a:cxnLst/>
                <a:rect r="r" b="b" t="t" l="l"/>
                <a:pathLst>
                  <a:path h="771118" w="17560">
                    <a:moveTo>
                      <a:pt x="0" y="0"/>
                    </a:moveTo>
                    <a:lnTo>
                      <a:pt x="17560" y="0"/>
                    </a:lnTo>
                    <a:lnTo>
                      <a:pt x="17560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415AC6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17560" cy="837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1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8747735" y="6330463"/>
            <a:ext cx="7101430" cy="2927837"/>
            <a:chOff x="0" y="0"/>
            <a:chExt cx="9468573" cy="3903783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9468573" cy="3903783"/>
              <a:chOff x="0" y="0"/>
              <a:chExt cx="1870335" cy="77111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870335" cy="771118"/>
              </a:xfrm>
              <a:custGeom>
                <a:avLst/>
                <a:gdLst/>
                <a:ahLst/>
                <a:cxnLst/>
                <a:rect r="r" b="b" t="t" l="l"/>
                <a:pathLst>
                  <a:path h="771118" w="1870335">
                    <a:moveTo>
                      <a:pt x="0" y="0"/>
                    </a:moveTo>
                    <a:lnTo>
                      <a:pt x="1870335" y="0"/>
                    </a:lnTo>
                    <a:lnTo>
                      <a:pt x="1870335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A4F0FD">
                  <a:alpha val="33725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66675"/>
                <a:ext cx="1870335" cy="837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1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9352529" y="0"/>
              <a:ext cx="88900" cy="3903783"/>
              <a:chOff x="0" y="0"/>
              <a:chExt cx="17560" cy="77111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7560" cy="771118"/>
              </a:xfrm>
              <a:custGeom>
                <a:avLst/>
                <a:gdLst/>
                <a:ahLst/>
                <a:cxnLst/>
                <a:rect r="r" b="b" t="t" l="l"/>
                <a:pathLst>
                  <a:path h="771118" w="17560">
                    <a:moveTo>
                      <a:pt x="0" y="0"/>
                    </a:moveTo>
                    <a:lnTo>
                      <a:pt x="17560" y="0"/>
                    </a:lnTo>
                    <a:lnTo>
                      <a:pt x="17560" y="771118"/>
                    </a:lnTo>
                    <a:lnTo>
                      <a:pt x="0" y="771118"/>
                    </a:lnTo>
                    <a:close/>
                  </a:path>
                </a:pathLst>
              </a:custGeom>
              <a:solidFill>
                <a:srgbClr val="415AC6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66675"/>
                <a:ext cx="17560" cy="837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1"/>
                  </a:lnSpc>
                </a:pPr>
              </a:p>
            </p:txBody>
          </p:sp>
        </p:grpSp>
      </p:grpSp>
      <p:sp>
        <p:nvSpPr>
          <p:cNvPr name="Freeform 30" id="30"/>
          <p:cNvSpPr/>
          <p:nvPr/>
        </p:nvSpPr>
        <p:spPr>
          <a:xfrm flipH="false" flipV="false" rot="0">
            <a:off x="3476601" y="4621836"/>
            <a:ext cx="2205628" cy="1222507"/>
          </a:xfrm>
          <a:custGeom>
            <a:avLst/>
            <a:gdLst/>
            <a:ahLst/>
            <a:cxnLst/>
            <a:rect r="r" b="b" t="t" l="l"/>
            <a:pathLst>
              <a:path h="1222507" w="2205628">
                <a:moveTo>
                  <a:pt x="0" y="0"/>
                </a:moveTo>
                <a:lnTo>
                  <a:pt x="2205628" y="0"/>
                </a:lnTo>
                <a:lnTo>
                  <a:pt x="2205628" y="1222507"/>
                </a:lnTo>
                <a:lnTo>
                  <a:pt x="0" y="1222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7546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501456" y="4621836"/>
            <a:ext cx="1593987" cy="1222507"/>
          </a:xfrm>
          <a:custGeom>
            <a:avLst/>
            <a:gdLst/>
            <a:ahLst/>
            <a:cxnLst/>
            <a:rect r="r" b="b" t="t" l="l"/>
            <a:pathLst>
              <a:path h="1222507" w="1593987">
                <a:moveTo>
                  <a:pt x="0" y="0"/>
                </a:moveTo>
                <a:lnTo>
                  <a:pt x="1593987" y="0"/>
                </a:lnTo>
                <a:lnTo>
                  <a:pt x="1593987" y="1222507"/>
                </a:lnTo>
                <a:lnTo>
                  <a:pt x="0" y="1222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673305" y="7794381"/>
            <a:ext cx="2008924" cy="1319533"/>
          </a:xfrm>
          <a:custGeom>
            <a:avLst/>
            <a:gdLst/>
            <a:ahLst/>
            <a:cxnLst/>
            <a:rect r="r" b="b" t="t" l="l"/>
            <a:pathLst>
              <a:path h="1319533" w="2008924">
                <a:moveTo>
                  <a:pt x="0" y="0"/>
                </a:moveTo>
                <a:lnTo>
                  <a:pt x="2008924" y="0"/>
                </a:lnTo>
                <a:lnTo>
                  <a:pt x="2008924" y="1319533"/>
                </a:lnTo>
                <a:lnTo>
                  <a:pt x="0" y="1319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42" t="0" r="-3542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317541" y="7658821"/>
            <a:ext cx="3961817" cy="1360383"/>
          </a:xfrm>
          <a:custGeom>
            <a:avLst/>
            <a:gdLst/>
            <a:ahLst/>
            <a:cxnLst/>
            <a:rect r="r" b="b" t="t" l="l"/>
            <a:pathLst>
              <a:path h="1360383" w="3961817">
                <a:moveTo>
                  <a:pt x="0" y="0"/>
                </a:moveTo>
                <a:lnTo>
                  <a:pt x="3961817" y="0"/>
                </a:lnTo>
                <a:lnTo>
                  <a:pt x="3961817" y="1360383"/>
                </a:lnTo>
                <a:lnTo>
                  <a:pt x="0" y="13603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28700" y="1028700"/>
            <a:ext cx="14084886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80"/>
              </a:lnSpc>
              <a:spcBef>
                <a:spcPct val="0"/>
              </a:spcBef>
            </a:pPr>
            <a:r>
              <a:rPr lang="en-US" sz="5900">
                <a:solidFill>
                  <a:srgbClr val="415AC6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FUNCIONALIDADES DEL SOFTWARE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40113" y="3468686"/>
            <a:ext cx="3878603" cy="86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42440" indent="-271220" lvl="1">
              <a:lnSpc>
                <a:spcPts val="3366"/>
              </a:lnSpc>
              <a:buFont typeface="Arial"/>
              <a:buChar char="•"/>
            </a:pPr>
            <a:r>
              <a:rPr lang="en-US" sz="25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5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elección aleatoria de palabras.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359148" y="3468686"/>
            <a:ext cx="3878603" cy="86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42440" indent="-271220" lvl="1">
              <a:lnSpc>
                <a:spcPts val="3366"/>
              </a:lnSpc>
              <a:buFont typeface="Arial"/>
              <a:buChar char="•"/>
            </a:pPr>
            <a:r>
              <a:rPr lang="en-US" sz="25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</a:t>
            </a:r>
            <a:r>
              <a:rPr lang="en-US" sz="25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lidación de la entrada del usuario.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640113" y="6364305"/>
            <a:ext cx="3878603" cy="129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42440" indent="-271220" lvl="1">
              <a:lnSpc>
                <a:spcPts val="3366"/>
              </a:lnSpc>
              <a:buFont typeface="Arial"/>
              <a:buChar char="•"/>
            </a:pPr>
            <a:r>
              <a:rPr lang="en-US" sz="25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5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egistro de letras correctas e incorrectas.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59148" y="6604675"/>
            <a:ext cx="3878603" cy="86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42440" indent="-271220" lvl="1">
              <a:lnSpc>
                <a:spcPts val="3366"/>
              </a:lnSpc>
              <a:buFont typeface="Arial"/>
              <a:buChar char="•"/>
            </a:pPr>
            <a:r>
              <a:rPr lang="en-US" sz="25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5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ensaje final de victoria o derrota.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2523" r="0" b="12523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028700" y="2678430"/>
            <a:ext cx="7341107" cy="290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desarrollo del juego del Ahorcado permitió aplicar de manera práctica los conceptos básicos de programación, reforzando el uso de la lógica, el control de flujo y la resolución de problemas mediante software.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38225"/>
            <a:ext cx="6096198" cy="94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8"/>
              </a:lnSpc>
              <a:spcBef>
                <a:spcPct val="0"/>
              </a:spcBef>
            </a:pPr>
            <a:r>
              <a:rPr lang="en-US" sz="6299">
                <a:solidFill>
                  <a:srgbClr val="415AC6"/>
                </a:solidFill>
                <a:latin typeface="Efour Digital Pro"/>
                <a:ea typeface="Efour Digital Pro"/>
                <a:cs typeface="Efour Digital Pro"/>
                <a:sym typeface="Efour Digital Pro"/>
              </a:rPr>
              <a:t>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DAG40UI-jJM</dc:identifier>
  <dcterms:modified xsi:type="dcterms:W3CDTF">2011-08-01T06:04:30Z</dcterms:modified>
  <cp:revision>1</cp:revision>
  <dc:title>Presentaciones Educativa Ciudadanía Digital Futurista Azul</dc:title>
</cp:coreProperties>
</file>